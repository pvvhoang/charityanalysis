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BE2C9-E35D-471E-B5F3-026D515F9F19}" v="4" dt="2022-06-12T12:28:13.484"/>
    <p1510:client id="{D16DE12C-A15C-4129-B3B5-56207A9D6E5B}" v="489" dt="2022-06-12T14:19:58.9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u Viet Hoang Pham" userId="57ba67044a41dc51" providerId="Windows Live" clId="Web-{4C2BE2C9-E35D-471E-B5F3-026D515F9F19}"/>
    <pc:docChg chg="addSld modSld">
      <pc:chgData name="Vu Viet Hoang Pham" userId="57ba67044a41dc51" providerId="Windows Live" clId="Web-{4C2BE2C9-E35D-471E-B5F3-026D515F9F19}" dt="2022-06-12T12:28:13.484" v="2"/>
      <pc:docMkLst>
        <pc:docMk/>
      </pc:docMkLst>
      <pc:sldChg chg="addSp delSp modSp new">
        <pc:chgData name="Vu Viet Hoang Pham" userId="57ba67044a41dc51" providerId="Windows Live" clId="Web-{4C2BE2C9-E35D-471E-B5F3-026D515F9F19}" dt="2022-06-12T12:28:13.484" v="2"/>
        <pc:sldMkLst>
          <pc:docMk/>
          <pc:sldMk cId="989770063" sldId="257"/>
        </pc:sldMkLst>
        <pc:spChg chg="del">
          <ac:chgData name="Vu Viet Hoang Pham" userId="57ba67044a41dc51" providerId="Windows Live" clId="Web-{4C2BE2C9-E35D-471E-B5F3-026D515F9F19}" dt="2022-06-12T12:28:01.780" v="1"/>
          <ac:spMkLst>
            <pc:docMk/>
            <pc:sldMk cId="989770063" sldId="257"/>
            <ac:spMk id="3" creationId="{66E7FBA7-D869-CA2C-EAC8-A13689D01124}"/>
          </ac:spMkLst>
        </pc:spChg>
        <pc:spChg chg="add mod">
          <ac:chgData name="Vu Viet Hoang Pham" userId="57ba67044a41dc51" providerId="Windows Live" clId="Web-{4C2BE2C9-E35D-471E-B5F3-026D515F9F19}" dt="2022-06-12T12:28:13.484" v="2"/>
          <ac:spMkLst>
            <pc:docMk/>
            <pc:sldMk cId="989770063" sldId="257"/>
            <ac:spMk id="6" creationId="{A63D1A6C-D668-B0AD-0B12-0016C786525A}"/>
          </ac:spMkLst>
        </pc:spChg>
        <pc:picChg chg="add del mod ord">
          <ac:chgData name="Vu Viet Hoang Pham" userId="57ba67044a41dc51" providerId="Windows Live" clId="Web-{4C2BE2C9-E35D-471E-B5F3-026D515F9F19}" dt="2022-06-12T12:28:13.484" v="2"/>
          <ac:picMkLst>
            <pc:docMk/>
            <pc:sldMk cId="989770063" sldId="257"/>
            <ac:picMk id="4" creationId="{BD62C4D0-555F-92A4-AFF4-D2EA5FD3B5AA}"/>
          </ac:picMkLst>
        </pc:picChg>
      </pc:sldChg>
    </pc:docChg>
  </pc:docChgLst>
  <pc:docChgLst>
    <pc:chgData name="Vu Viet Hoang Pham" userId="57ba67044a41dc51" providerId="Windows Live" clId="Web-{D16DE12C-A15C-4129-B3B5-56207A9D6E5B}"/>
    <pc:docChg chg="addSld modSld">
      <pc:chgData name="Vu Viet Hoang Pham" userId="57ba67044a41dc51" providerId="Windows Live" clId="Web-{D16DE12C-A15C-4129-B3B5-56207A9D6E5B}" dt="2022-06-12T14:19:58.976" v="478" actId="20577"/>
      <pc:docMkLst>
        <pc:docMk/>
      </pc:docMkLst>
      <pc:sldChg chg="modSp">
        <pc:chgData name="Vu Viet Hoang Pham" userId="57ba67044a41dc51" providerId="Windows Live" clId="Web-{D16DE12C-A15C-4129-B3B5-56207A9D6E5B}" dt="2022-06-12T13:47:56.915" v="16" actId="20577"/>
        <pc:sldMkLst>
          <pc:docMk/>
          <pc:sldMk cId="109857222" sldId="256"/>
        </pc:sldMkLst>
        <pc:spChg chg="mod">
          <ac:chgData name="Vu Viet Hoang Pham" userId="57ba67044a41dc51" providerId="Windows Live" clId="Web-{D16DE12C-A15C-4129-B3B5-56207A9D6E5B}" dt="2022-06-12T13:47:41.211" v="7" actId="20577"/>
          <ac:spMkLst>
            <pc:docMk/>
            <pc:sldMk cId="109857222" sldId="256"/>
            <ac:spMk id="2" creationId="{00000000-0000-0000-0000-000000000000}"/>
          </ac:spMkLst>
        </pc:spChg>
        <pc:spChg chg="mod">
          <ac:chgData name="Vu Viet Hoang Pham" userId="57ba67044a41dc51" providerId="Windows Live" clId="Web-{D16DE12C-A15C-4129-B3B5-56207A9D6E5B}" dt="2022-06-12T13:47:56.915" v="16" actId="20577"/>
          <ac:spMkLst>
            <pc:docMk/>
            <pc:sldMk cId="109857222" sldId="256"/>
            <ac:spMk id="3" creationId="{00000000-0000-0000-0000-000000000000}"/>
          </ac:spMkLst>
        </pc:spChg>
      </pc:sldChg>
      <pc:sldChg chg="modSp">
        <pc:chgData name="Vu Viet Hoang Pham" userId="57ba67044a41dc51" providerId="Windows Live" clId="Web-{D16DE12C-A15C-4129-B3B5-56207A9D6E5B}" dt="2022-06-12T13:57:15.833" v="127" actId="20577"/>
        <pc:sldMkLst>
          <pc:docMk/>
          <pc:sldMk cId="989770063" sldId="257"/>
        </pc:sldMkLst>
        <pc:spChg chg="mod">
          <ac:chgData name="Vu Viet Hoang Pham" userId="57ba67044a41dc51" providerId="Windows Live" clId="Web-{D16DE12C-A15C-4129-B3B5-56207A9D6E5B}" dt="2022-06-12T13:52:17.233" v="53" actId="20577"/>
          <ac:spMkLst>
            <pc:docMk/>
            <pc:sldMk cId="989770063" sldId="257"/>
            <ac:spMk id="2" creationId="{6E99D92D-898F-6E42-D9B4-26A0FDD76D02}"/>
          </ac:spMkLst>
        </pc:spChg>
        <pc:spChg chg="mod">
          <ac:chgData name="Vu Viet Hoang Pham" userId="57ba67044a41dc51" providerId="Windows Live" clId="Web-{D16DE12C-A15C-4129-B3B5-56207A9D6E5B}" dt="2022-06-12T13:57:15.833" v="127" actId="20577"/>
          <ac:spMkLst>
            <pc:docMk/>
            <pc:sldMk cId="989770063" sldId="257"/>
            <ac:spMk id="6" creationId="{A63D1A6C-D668-B0AD-0B12-0016C786525A}"/>
          </ac:spMkLst>
        </pc:spChg>
      </pc:sldChg>
      <pc:sldChg chg="addSp delSp modSp new">
        <pc:chgData name="Vu Viet Hoang Pham" userId="57ba67044a41dc51" providerId="Windows Live" clId="Web-{D16DE12C-A15C-4129-B3B5-56207A9D6E5B}" dt="2022-06-12T14:03:05.967" v="171" actId="20577"/>
        <pc:sldMkLst>
          <pc:docMk/>
          <pc:sldMk cId="1088104730" sldId="258"/>
        </pc:sldMkLst>
        <pc:spChg chg="mod">
          <ac:chgData name="Vu Viet Hoang Pham" userId="57ba67044a41dc51" providerId="Windows Live" clId="Web-{D16DE12C-A15C-4129-B3B5-56207A9D6E5B}" dt="2022-06-12T13:50:28.246" v="36" actId="20577"/>
          <ac:spMkLst>
            <pc:docMk/>
            <pc:sldMk cId="1088104730" sldId="258"/>
            <ac:spMk id="2" creationId="{1CD8A498-BA35-C6B0-FD10-80618344D6AE}"/>
          </ac:spMkLst>
        </pc:spChg>
        <pc:spChg chg="del">
          <ac:chgData name="Vu Viet Hoang Pham" userId="57ba67044a41dc51" providerId="Windows Live" clId="Web-{D16DE12C-A15C-4129-B3B5-56207A9D6E5B}" dt="2022-06-12T13:49:10.745" v="20"/>
          <ac:spMkLst>
            <pc:docMk/>
            <pc:sldMk cId="1088104730" sldId="258"/>
            <ac:spMk id="3" creationId="{EF2053E4-CF07-292F-8C18-09B30C225A1D}"/>
          </ac:spMkLst>
        </pc:spChg>
        <pc:spChg chg="add mod">
          <ac:chgData name="Vu Viet Hoang Pham" userId="57ba67044a41dc51" providerId="Windows Live" clId="Web-{D16DE12C-A15C-4129-B3B5-56207A9D6E5B}" dt="2022-06-12T14:03:05.967" v="171" actId="20577"/>
          <ac:spMkLst>
            <pc:docMk/>
            <pc:sldMk cId="1088104730" sldId="258"/>
            <ac:spMk id="6" creationId="{206B9A11-6AAA-D3E9-48D6-BE6D75740905}"/>
          </ac:spMkLst>
        </pc:spChg>
        <pc:picChg chg="add del mod ord">
          <ac:chgData name="Vu Viet Hoang Pham" userId="57ba67044a41dc51" providerId="Windows Live" clId="Web-{D16DE12C-A15C-4129-B3B5-56207A9D6E5B}" dt="2022-06-12T13:49:30.183" v="25"/>
          <ac:picMkLst>
            <pc:docMk/>
            <pc:sldMk cId="1088104730" sldId="258"/>
            <ac:picMk id="4" creationId="{6C7CD558-868A-6EB6-7253-6B0F3415A8F0}"/>
          </ac:picMkLst>
        </pc:picChg>
      </pc:sldChg>
      <pc:sldChg chg="addSp delSp modSp new">
        <pc:chgData name="Vu Viet Hoang Pham" userId="57ba67044a41dc51" providerId="Windows Live" clId="Web-{D16DE12C-A15C-4129-B3B5-56207A9D6E5B}" dt="2022-06-12T14:01:38.324" v="158" actId="20577"/>
        <pc:sldMkLst>
          <pc:docMk/>
          <pc:sldMk cId="779632774" sldId="259"/>
        </pc:sldMkLst>
        <pc:spChg chg="mod">
          <ac:chgData name="Vu Viet Hoang Pham" userId="57ba67044a41dc51" providerId="Windows Live" clId="Web-{D16DE12C-A15C-4129-B3B5-56207A9D6E5B}" dt="2022-06-12T13:50:18.871" v="35" actId="20577"/>
          <ac:spMkLst>
            <pc:docMk/>
            <pc:sldMk cId="779632774" sldId="259"/>
            <ac:spMk id="2" creationId="{54E13472-4A6C-6B76-2223-657781E120DE}"/>
          </ac:spMkLst>
        </pc:spChg>
        <pc:spChg chg="mod">
          <ac:chgData name="Vu Viet Hoang Pham" userId="57ba67044a41dc51" providerId="Windows Live" clId="Web-{D16DE12C-A15C-4129-B3B5-56207A9D6E5B}" dt="2022-06-12T14:01:38.324" v="158" actId="20577"/>
          <ac:spMkLst>
            <pc:docMk/>
            <pc:sldMk cId="779632774" sldId="259"/>
            <ac:spMk id="3" creationId="{E0670ED0-1244-AFE5-3CA8-60045ED918EB}"/>
          </ac:spMkLst>
        </pc:spChg>
        <pc:picChg chg="add del mod">
          <ac:chgData name="Vu Viet Hoang Pham" userId="57ba67044a41dc51" providerId="Windows Live" clId="Web-{D16DE12C-A15C-4129-B3B5-56207A9D6E5B}" dt="2022-06-12T13:49:35.292" v="27"/>
          <ac:picMkLst>
            <pc:docMk/>
            <pc:sldMk cId="779632774" sldId="259"/>
            <ac:picMk id="4" creationId="{0902BF04-F71C-4EF2-BC78-2ABDC90DF4AF}"/>
          </ac:picMkLst>
        </pc:picChg>
        <pc:picChg chg="add mod">
          <ac:chgData name="Vu Viet Hoang Pham" userId="57ba67044a41dc51" providerId="Windows Live" clId="Web-{D16DE12C-A15C-4129-B3B5-56207A9D6E5B}" dt="2022-06-12T14:00:21.259" v="143" actId="1076"/>
          <ac:picMkLst>
            <pc:docMk/>
            <pc:sldMk cId="779632774" sldId="259"/>
            <ac:picMk id="5" creationId="{B727177A-DBE9-2340-8E6B-A0EF45EB2368}"/>
          </ac:picMkLst>
        </pc:picChg>
      </pc:sldChg>
      <pc:sldChg chg="addSp modSp new">
        <pc:chgData name="Vu Viet Hoang Pham" userId="57ba67044a41dc51" providerId="Windows Live" clId="Web-{D16DE12C-A15C-4129-B3B5-56207A9D6E5B}" dt="2022-06-12T14:04:58.479" v="198" actId="20577"/>
        <pc:sldMkLst>
          <pc:docMk/>
          <pc:sldMk cId="4158365866" sldId="260"/>
        </pc:sldMkLst>
        <pc:spChg chg="mod">
          <ac:chgData name="Vu Viet Hoang Pham" userId="57ba67044a41dc51" providerId="Windows Live" clId="Web-{D16DE12C-A15C-4129-B3B5-56207A9D6E5B}" dt="2022-06-12T13:50:34.621" v="37" actId="20577"/>
          <ac:spMkLst>
            <pc:docMk/>
            <pc:sldMk cId="4158365866" sldId="260"/>
            <ac:spMk id="2" creationId="{683743BF-CD37-EA4A-415A-4D8A95F931B1}"/>
          </ac:spMkLst>
        </pc:spChg>
        <pc:spChg chg="mod">
          <ac:chgData name="Vu Viet Hoang Pham" userId="57ba67044a41dc51" providerId="Windows Live" clId="Web-{D16DE12C-A15C-4129-B3B5-56207A9D6E5B}" dt="2022-06-12T14:04:58.479" v="198" actId="20577"/>
          <ac:spMkLst>
            <pc:docMk/>
            <pc:sldMk cId="4158365866" sldId="260"/>
            <ac:spMk id="3" creationId="{A22AD50C-E167-0B12-81DD-12C5F58F90D4}"/>
          </ac:spMkLst>
        </pc:spChg>
        <pc:picChg chg="add mod">
          <ac:chgData name="Vu Viet Hoang Pham" userId="57ba67044a41dc51" providerId="Windows Live" clId="Web-{D16DE12C-A15C-4129-B3B5-56207A9D6E5B}" dt="2022-06-12T14:03:42.124" v="177" actId="1076"/>
          <ac:picMkLst>
            <pc:docMk/>
            <pc:sldMk cId="4158365866" sldId="260"/>
            <ac:picMk id="4" creationId="{340A5D4D-D067-666B-C5B6-D648D63ABF70}"/>
          </ac:picMkLst>
        </pc:picChg>
      </pc:sldChg>
      <pc:sldChg chg="addSp modSp new">
        <pc:chgData name="Vu Viet Hoang Pham" userId="57ba67044a41dc51" providerId="Windows Live" clId="Web-{D16DE12C-A15C-4129-B3B5-56207A9D6E5B}" dt="2022-06-12T14:06:50.507" v="210" actId="20577"/>
        <pc:sldMkLst>
          <pc:docMk/>
          <pc:sldMk cId="65239483" sldId="261"/>
        </pc:sldMkLst>
        <pc:spChg chg="mod">
          <ac:chgData name="Vu Viet Hoang Pham" userId="57ba67044a41dc51" providerId="Windows Live" clId="Web-{D16DE12C-A15C-4129-B3B5-56207A9D6E5B}" dt="2022-06-12T13:51:02.263" v="43" actId="20577"/>
          <ac:spMkLst>
            <pc:docMk/>
            <pc:sldMk cId="65239483" sldId="261"/>
            <ac:spMk id="2" creationId="{ED2D68DF-4D37-63F7-9BF3-AF6DC6B41618}"/>
          </ac:spMkLst>
        </pc:spChg>
        <pc:spChg chg="mod">
          <ac:chgData name="Vu Viet Hoang Pham" userId="57ba67044a41dc51" providerId="Windows Live" clId="Web-{D16DE12C-A15C-4129-B3B5-56207A9D6E5B}" dt="2022-06-12T14:06:50.507" v="210" actId="20577"/>
          <ac:spMkLst>
            <pc:docMk/>
            <pc:sldMk cId="65239483" sldId="261"/>
            <ac:spMk id="3" creationId="{2BDE8567-1227-9F7A-ED72-A8935BAB7CEF}"/>
          </ac:spMkLst>
        </pc:spChg>
        <pc:picChg chg="add mod">
          <ac:chgData name="Vu Viet Hoang Pham" userId="57ba67044a41dc51" providerId="Windows Live" clId="Web-{D16DE12C-A15C-4129-B3B5-56207A9D6E5B}" dt="2022-06-12T14:06:21.162" v="203" actId="1076"/>
          <ac:picMkLst>
            <pc:docMk/>
            <pc:sldMk cId="65239483" sldId="261"/>
            <ac:picMk id="4" creationId="{4B7549DE-8671-A3BB-DD7C-0F81F94505C7}"/>
          </ac:picMkLst>
        </pc:picChg>
      </pc:sldChg>
      <pc:sldChg chg="modSp new">
        <pc:chgData name="Vu Viet Hoang Pham" userId="57ba67044a41dc51" providerId="Windows Live" clId="Web-{D16DE12C-A15C-4129-B3B5-56207A9D6E5B}" dt="2022-06-12T14:19:58.976" v="478" actId="20577"/>
        <pc:sldMkLst>
          <pc:docMk/>
          <pc:sldMk cId="2660109571" sldId="262"/>
        </pc:sldMkLst>
        <pc:spChg chg="mod">
          <ac:chgData name="Vu Viet Hoang Pham" userId="57ba67044a41dc51" providerId="Windows Live" clId="Web-{D16DE12C-A15C-4129-B3B5-56207A9D6E5B}" dt="2022-06-12T14:07:01.851" v="214" actId="20577"/>
          <ac:spMkLst>
            <pc:docMk/>
            <pc:sldMk cId="2660109571" sldId="262"/>
            <ac:spMk id="2" creationId="{6C03A76B-3802-A25E-7AE8-5B50F3714073}"/>
          </ac:spMkLst>
        </pc:spChg>
        <pc:spChg chg="mod">
          <ac:chgData name="Vu Viet Hoang Pham" userId="57ba67044a41dc51" providerId="Windows Live" clId="Web-{D16DE12C-A15C-4129-B3B5-56207A9D6E5B}" dt="2022-06-12T14:19:58.976" v="478" actId="20577"/>
          <ac:spMkLst>
            <pc:docMk/>
            <pc:sldMk cId="2660109571" sldId="262"/>
            <ac:spMk id="3" creationId="{33244C0D-2983-71B9-FF2D-014C9F3C97A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6/12/2022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Charity Data Analysis</a:t>
            </a:r>
            <a:endParaRPr lang="en-US" dirty="0"/>
          </a:p>
        </p:txBody>
      </p:sp>
      <p:sp>
        <p:nvSpPr>
          <p:cNvPr id="3" name="Subtitle 2"/>
          <p:cNvSpPr>
            <a:spLocks noGrp="1"/>
          </p:cNvSpPr>
          <p:nvPr>
            <p:ph type="subTitle" idx="1"/>
          </p:nvPr>
        </p:nvSpPr>
        <p:spPr/>
        <p:txBody>
          <a:bodyPr vert="horz" lIns="91440" tIns="45720" rIns="91440" bIns="45720" rtlCol="0" anchor="t">
            <a:normAutofit/>
          </a:bodyPr>
          <a:lstStyle/>
          <a:p>
            <a:r>
              <a:rPr lang="en-US" dirty="0">
                <a:cs typeface="Calibri"/>
              </a:rPr>
              <a:t>Vu Viet Hoang Pham - 2022</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9D92D-898F-6E42-D9B4-26A0FDD76D02}"/>
              </a:ext>
            </a:extLst>
          </p:cNvPr>
          <p:cNvSpPr>
            <a:spLocks noGrp="1"/>
          </p:cNvSpPr>
          <p:nvPr>
            <p:ph type="title"/>
          </p:nvPr>
        </p:nvSpPr>
        <p:spPr/>
        <p:txBody>
          <a:bodyPr/>
          <a:lstStyle/>
          <a:p>
            <a:r>
              <a:rPr lang="en-US" dirty="0">
                <a:ea typeface="+mj-lt"/>
                <a:cs typeface="+mj-lt"/>
              </a:rPr>
              <a:t>The problem of donor churn</a:t>
            </a:r>
            <a:endParaRPr lang="en-US" dirty="0"/>
          </a:p>
        </p:txBody>
      </p:sp>
      <p:sp>
        <p:nvSpPr>
          <p:cNvPr id="6" name="Content Placeholder 5">
            <a:extLst>
              <a:ext uri="{FF2B5EF4-FFF2-40B4-BE49-F238E27FC236}">
                <a16:creationId xmlns:a16="http://schemas.microsoft.com/office/drawing/2014/main" id="{A63D1A6C-D668-B0AD-0B12-0016C786525A}"/>
              </a:ext>
            </a:extLst>
          </p:cNvPr>
          <p:cNvSpPr>
            <a:spLocks noGrp="1"/>
          </p:cNvSpPr>
          <p:nvPr>
            <p:ph idx="1"/>
          </p:nvPr>
        </p:nvSpPr>
        <p:spPr/>
        <p:txBody>
          <a:bodyPr vert="horz" lIns="91440" tIns="45720" rIns="91440" bIns="45720" rtlCol="0" anchor="t">
            <a:normAutofit/>
          </a:bodyPr>
          <a:lstStyle/>
          <a:p>
            <a:r>
              <a:rPr lang="en-US" dirty="0">
                <a:ea typeface="+mn-lt"/>
                <a:cs typeface="+mn-lt"/>
              </a:rPr>
              <a:t>Total number: </a:t>
            </a:r>
            <a:r>
              <a:rPr lang="en-US" b="1" dirty="0">
                <a:ea typeface="+mn-lt"/>
                <a:cs typeface="+mn-lt"/>
              </a:rPr>
              <a:t>24,589 churns</a:t>
            </a:r>
          </a:p>
          <a:p>
            <a:r>
              <a:rPr lang="en-US" dirty="0">
                <a:ea typeface="+mn-lt"/>
                <a:cs typeface="+mn-lt"/>
              </a:rPr>
              <a:t>Duration for the churns: </a:t>
            </a:r>
            <a:r>
              <a:rPr lang="en-US" b="1" dirty="0">
                <a:ea typeface="+mn-lt"/>
                <a:cs typeface="+mn-lt"/>
              </a:rPr>
              <a:t>31 years</a:t>
            </a:r>
            <a:r>
              <a:rPr lang="en-US" dirty="0">
                <a:ea typeface="+mn-lt"/>
                <a:cs typeface="+mn-lt"/>
              </a:rPr>
              <a:t>, from 1989 to 2020</a:t>
            </a:r>
          </a:p>
          <a:p>
            <a:r>
              <a:rPr lang="en-US" dirty="0">
                <a:ea typeface="+mn-lt"/>
                <a:cs typeface="+mn-lt"/>
              </a:rPr>
              <a:t>Average number per year: About </a:t>
            </a:r>
            <a:r>
              <a:rPr lang="en-US" b="1" dirty="0">
                <a:ea typeface="+mn-lt"/>
                <a:cs typeface="+mn-lt"/>
              </a:rPr>
              <a:t>793 churns</a:t>
            </a:r>
          </a:p>
          <a:p>
            <a:r>
              <a:rPr lang="en-US" dirty="0">
                <a:ea typeface="+mn-lt"/>
                <a:cs typeface="+mn-lt"/>
              </a:rPr>
              <a:t>Total amount lost per year: About </a:t>
            </a:r>
            <a:r>
              <a:rPr lang="en-US" b="1" dirty="0">
                <a:ea typeface="+mn-lt"/>
                <a:cs typeface="+mn-lt"/>
              </a:rPr>
              <a:t>$190,366</a:t>
            </a:r>
          </a:p>
          <a:p>
            <a:pPr lvl="1"/>
            <a:r>
              <a:rPr lang="en-US" dirty="0">
                <a:ea typeface="+mn-lt"/>
                <a:cs typeface="+mn-lt"/>
              </a:rPr>
              <a:t>Suppose that the amount for each donation per month is $20</a:t>
            </a:r>
          </a:p>
          <a:p>
            <a:pPr lvl="1"/>
            <a:r>
              <a:rPr lang="en-US" dirty="0">
                <a:ea typeface="+mn-lt"/>
                <a:cs typeface="+mn-lt"/>
              </a:rPr>
              <a:t>Total amount lost per year due to the churns = average number of churns per year * 12 months * $20 per month = 793 * 12 * 20 = $190,366</a:t>
            </a:r>
            <a:endParaRPr lang="en-US" dirty="0">
              <a:cs typeface="Calibri"/>
            </a:endParaRPr>
          </a:p>
        </p:txBody>
      </p:sp>
    </p:spTree>
    <p:extLst>
      <p:ext uri="{BB962C8B-B14F-4D97-AF65-F5344CB8AC3E}">
        <p14:creationId xmlns:p14="http://schemas.microsoft.com/office/powerpoint/2010/main" val="989770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13472-4A6C-6B76-2223-657781E120DE}"/>
              </a:ext>
            </a:extLst>
          </p:cNvPr>
          <p:cNvSpPr>
            <a:spLocks noGrp="1"/>
          </p:cNvSpPr>
          <p:nvPr>
            <p:ph type="title"/>
          </p:nvPr>
        </p:nvSpPr>
        <p:spPr/>
        <p:txBody>
          <a:bodyPr/>
          <a:lstStyle/>
          <a:p>
            <a:r>
              <a:rPr lang="en-US" dirty="0">
                <a:ea typeface="+mj-lt"/>
                <a:cs typeface="+mj-lt"/>
              </a:rPr>
              <a:t>The progress of churns over time</a:t>
            </a:r>
          </a:p>
        </p:txBody>
      </p:sp>
      <p:sp>
        <p:nvSpPr>
          <p:cNvPr id="3" name="Content Placeholder 2">
            <a:extLst>
              <a:ext uri="{FF2B5EF4-FFF2-40B4-BE49-F238E27FC236}">
                <a16:creationId xmlns:a16="http://schemas.microsoft.com/office/drawing/2014/main" id="{E0670ED0-1244-AFE5-3CA8-60045ED918EB}"/>
              </a:ext>
            </a:extLst>
          </p:cNvPr>
          <p:cNvSpPr>
            <a:spLocks noGrp="1"/>
          </p:cNvSpPr>
          <p:nvPr>
            <p:ph idx="1"/>
          </p:nvPr>
        </p:nvSpPr>
        <p:spPr>
          <a:xfrm>
            <a:off x="838200" y="1825625"/>
            <a:ext cx="3114054" cy="4351338"/>
          </a:xfrm>
        </p:spPr>
        <p:txBody>
          <a:bodyPr vert="horz" lIns="91440" tIns="45720" rIns="91440" bIns="45720" rtlCol="0" anchor="t">
            <a:normAutofit lnSpcReduction="10000"/>
          </a:bodyPr>
          <a:lstStyle/>
          <a:p>
            <a:r>
              <a:rPr lang="en-US" dirty="0">
                <a:ea typeface="+mn-lt"/>
                <a:cs typeface="+mn-lt"/>
              </a:rPr>
              <a:t>Churns are worse over time</a:t>
            </a:r>
          </a:p>
          <a:p>
            <a:r>
              <a:rPr lang="en-US" dirty="0">
                <a:ea typeface="+mn-lt"/>
                <a:cs typeface="+mn-lt"/>
              </a:rPr>
              <a:t>Significant increase since 2001</a:t>
            </a:r>
          </a:p>
          <a:p>
            <a:r>
              <a:rPr lang="en-US" dirty="0">
                <a:ea typeface="+mn-lt"/>
                <a:cs typeface="+mn-lt"/>
              </a:rPr>
              <a:t>Number of churns was sharply increased from about 1,500 in 2019 to nearly 4,000 in 2020</a:t>
            </a:r>
            <a:endParaRPr lang="en-US" dirty="0">
              <a:cs typeface="Calibri"/>
            </a:endParaRPr>
          </a:p>
        </p:txBody>
      </p:sp>
      <p:pic>
        <p:nvPicPr>
          <p:cNvPr id="5" name="Picture 5" descr="Chart&#10;&#10;Description automatically generated">
            <a:extLst>
              <a:ext uri="{FF2B5EF4-FFF2-40B4-BE49-F238E27FC236}">
                <a16:creationId xmlns:a16="http://schemas.microsoft.com/office/drawing/2014/main" id="{B727177A-DBE9-2340-8E6B-A0EF45EB2368}"/>
              </a:ext>
            </a:extLst>
          </p:cNvPr>
          <p:cNvPicPr>
            <a:picLocks noChangeAspect="1"/>
          </p:cNvPicPr>
          <p:nvPr/>
        </p:nvPicPr>
        <p:blipFill>
          <a:blip r:embed="rId2"/>
          <a:stretch>
            <a:fillRect/>
          </a:stretch>
        </p:blipFill>
        <p:spPr>
          <a:xfrm>
            <a:off x="3956566" y="1692250"/>
            <a:ext cx="8232559" cy="4117494"/>
          </a:xfrm>
          <a:prstGeom prst="rect">
            <a:avLst/>
          </a:prstGeom>
        </p:spPr>
      </p:pic>
    </p:spTree>
    <p:extLst>
      <p:ext uri="{BB962C8B-B14F-4D97-AF65-F5344CB8AC3E}">
        <p14:creationId xmlns:p14="http://schemas.microsoft.com/office/powerpoint/2010/main" val="779632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498-BA35-C6B0-FD10-80618344D6AE}"/>
              </a:ext>
            </a:extLst>
          </p:cNvPr>
          <p:cNvSpPr>
            <a:spLocks noGrp="1"/>
          </p:cNvSpPr>
          <p:nvPr>
            <p:ph type="title"/>
          </p:nvPr>
        </p:nvSpPr>
        <p:spPr/>
        <p:txBody>
          <a:bodyPr/>
          <a:lstStyle/>
          <a:p>
            <a:r>
              <a:rPr lang="en-US" dirty="0">
                <a:ea typeface="+mj-lt"/>
                <a:cs typeface="+mj-lt"/>
              </a:rPr>
              <a:t>Downgrade and churns</a:t>
            </a:r>
            <a:endParaRPr lang="en-US" dirty="0"/>
          </a:p>
        </p:txBody>
      </p:sp>
      <p:sp>
        <p:nvSpPr>
          <p:cNvPr id="6" name="Content Placeholder 5">
            <a:extLst>
              <a:ext uri="{FF2B5EF4-FFF2-40B4-BE49-F238E27FC236}">
                <a16:creationId xmlns:a16="http://schemas.microsoft.com/office/drawing/2014/main" id="{206B9A11-6AAA-D3E9-48D6-BE6D75740905}"/>
              </a:ext>
            </a:extLst>
          </p:cNvPr>
          <p:cNvSpPr>
            <a:spLocks noGrp="1"/>
          </p:cNvSpPr>
          <p:nvPr>
            <p:ph idx="1"/>
          </p:nvPr>
        </p:nvSpPr>
        <p:spPr/>
        <p:txBody>
          <a:bodyPr vert="horz" lIns="91440" tIns="45720" rIns="91440" bIns="45720" rtlCol="0" anchor="t">
            <a:normAutofit/>
          </a:bodyPr>
          <a:lstStyle/>
          <a:p>
            <a:r>
              <a:rPr lang="en-US" dirty="0">
                <a:ea typeface="+mn-lt"/>
                <a:cs typeface="+mn-lt"/>
              </a:rPr>
              <a:t>Number of churns after a downgrade: </a:t>
            </a:r>
            <a:r>
              <a:rPr lang="en-US" b="1" dirty="0">
                <a:ea typeface="+mn-lt"/>
                <a:cs typeface="+mn-lt"/>
              </a:rPr>
              <a:t>296 churns</a:t>
            </a:r>
          </a:p>
          <a:p>
            <a:r>
              <a:rPr lang="en-US" dirty="0">
                <a:ea typeface="+mn-lt"/>
                <a:cs typeface="+mn-lt"/>
              </a:rPr>
              <a:t>Although it is a small number, we may need to follow up the cases of Downgrade to avoid unnecessary churns</a:t>
            </a:r>
            <a:endParaRPr lang="en-US" dirty="0">
              <a:cs typeface="Calibri"/>
            </a:endParaRPr>
          </a:p>
        </p:txBody>
      </p:sp>
    </p:spTree>
    <p:extLst>
      <p:ext uri="{BB962C8B-B14F-4D97-AF65-F5344CB8AC3E}">
        <p14:creationId xmlns:p14="http://schemas.microsoft.com/office/powerpoint/2010/main" val="10881047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43BF-CD37-EA4A-415A-4D8A95F931B1}"/>
              </a:ext>
            </a:extLst>
          </p:cNvPr>
          <p:cNvSpPr>
            <a:spLocks noGrp="1"/>
          </p:cNvSpPr>
          <p:nvPr>
            <p:ph type="title"/>
          </p:nvPr>
        </p:nvSpPr>
        <p:spPr/>
        <p:txBody>
          <a:bodyPr/>
          <a:lstStyle/>
          <a:p>
            <a:r>
              <a:rPr lang="en-US" dirty="0">
                <a:ea typeface="+mj-lt"/>
                <a:cs typeface="+mj-lt"/>
              </a:rPr>
              <a:t>The duration for recurring donations</a:t>
            </a:r>
            <a:endParaRPr lang="en-US" dirty="0"/>
          </a:p>
        </p:txBody>
      </p:sp>
      <p:sp>
        <p:nvSpPr>
          <p:cNvPr id="3" name="Content Placeholder 2">
            <a:extLst>
              <a:ext uri="{FF2B5EF4-FFF2-40B4-BE49-F238E27FC236}">
                <a16:creationId xmlns:a16="http://schemas.microsoft.com/office/drawing/2014/main" id="{A22AD50C-E167-0B12-81DD-12C5F58F90D4}"/>
              </a:ext>
            </a:extLst>
          </p:cNvPr>
          <p:cNvSpPr>
            <a:spLocks noGrp="1"/>
          </p:cNvSpPr>
          <p:nvPr>
            <p:ph idx="1"/>
          </p:nvPr>
        </p:nvSpPr>
        <p:spPr>
          <a:xfrm>
            <a:off x="838200" y="1825625"/>
            <a:ext cx="3230137" cy="4351338"/>
          </a:xfrm>
        </p:spPr>
        <p:txBody>
          <a:bodyPr vert="horz" lIns="91440" tIns="45720" rIns="91440" bIns="45720" rtlCol="0" anchor="t">
            <a:normAutofit lnSpcReduction="10000"/>
          </a:bodyPr>
          <a:lstStyle/>
          <a:p>
            <a:r>
              <a:rPr lang="en-US" dirty="0">
                <a:ea typeface="+mn-lt"/>
                <a:cs typeface="+mn-lt"/>
              </a:rPr>
              <a:t>Average number of months for recurring donations: </a:t>
            </a:r>
            <a:r>
              <a:rPr lang="en-US" b="1" dirty="0">
                <a:ea typeface="+mn-lt"/>
                <a:cs typeface="+mn-lt"/>
              </a:rPr>
              <a:t>32.2 months</a:t>
            </a:r>
          </a:p>
          <a:p>
            <a:r>
              <a:rPr lang="en-US" dirty="0">
                <a:ea typeface="+mn-lt"/>
                <a:cs typeface="+mn-lt"/>
              </a:rPr>
              <a:t>Thus, we may need to follow up with donors who have their donations over continuous 30 months</a:t>
            </a:r>
            <a:endParaRPr lang="en-US" dirty="0">
              <a:cs typeface="Calibri"/>
            </a:endParaRPr>
          </a:p>
        </p:txBody>
      </p:sp>
      <p:pic>
        <p:nvPicPr>
          <p:cNvPr id="4" name="Picture 4" descr="Chart, histogram&#10;&#10;Description automatically generated">
            <a:extLst>
              <a:ext uri="{FF2B5EF4-FFF2-40B4-BE49-F238E27FC236}">
                <a16:creationId xmlns:a16="http://schemas.microsoft.com/office/drawing/2014/main" id="{340A5D4D-D067-666B-C5B6-D648D63ABF70}"/>
              </a:ext>
            </a:extLst>
          </p:cNvPr>
          <p:cNvPicPr>
            <a:picLocks noChangeAspect="1"/>
          </p:cNvPicPr>
          <p:nvPr/>
        </p:nvPicPr>
        <p:blipFill>
          <a:blip r:embed="rId2"/>
          <a:stretch>
            <a:fillRect/>
          </a:stretch>
        </p:blipFill>
        <p:spPr>
          <a:xfrm>
            <a:off x="4031208" y="1691474"/>
            <a:ext cx="8232559" cy="4106411"/>
          </a:xfrm>
          <a:prstGeom prst="rect">
            <a:avLst/>
          </a:prstGeom>
        </p:spPr>
      </p:pic>
    </p:spTree>
    <p:extLst>
      <p:ext uri="{BB962C8B-B14F-4D97-AF65-F5344CB8AC3E}">
        <p14:creationId xmlns:p14="http://schemas.microsoft.com/office/powerpoint/2010/main" val="4158365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D68DF-4D37-63F7-9BF3-AF6DC6B41618}"/>
              </a:ext>
            </a:extLst>
          </p:cNvPr>
          <p:cNvSpPr>
            <a:spLocks noGrp="1"/>
          </p:cNvSpPr>
          <p:nvPr>
            <p:ph type="title"/>
          </p:nvPr>
        </p:nvSpPr>
        <p:spPr/>
        <p:txBody>
          <a:bodyPr/>
          <a:lstStyle/>
          <a:p>
            <a:r>
              <a:rPr lang="en-US" dirty="0">
                <a:ea typeface="+mj-lt"/>
                <a:cs typeface="+mj-lt"/>
              </a:rPr>
              <a:t>The churns over months</a:t>
            </a:r>
            <a:endParaRPr lang="en-US" dirty="0"/>
          </a:p>
        </p:txBody>
      </p:sp>
      <p:sp>
        <p:nvSpPr>
          <p:cNvPr id="3" name="Content Placeholder 2">
            <a:extLst>
              <a:ext uri="{FF2B5EF4-FFF2-40B4-BE49-F238E27FC236}">
                <a16:creationId xmlns:a16="http://schemas.microsoft.com/office/drawing/2014/main" id="{2BDE8567-1227-9F7A-ED72-A8935BAB7CEF}"/>
              </a:ext>
            </a:extLst>
          </p:cNvPr>
          <p:cNvSpPr>
            <a:spLocks noGrp="1"/>
          </p:cNvSpPr>
          <p:nvPr>
            <p:ph idx="1"/>
          </p:nvPr>
        </p:nvSpPr>
        <p:spPr>
          <a:xfrm>
            <a:off x="838200" y="1825625"/>
            <a:ext cx="3205356" cy="4351338"/>
          </a:xfrm>
        </p:spPr>
        <p:txBody>
          <a:bodyPr vert="horz" lIns="91440" tIns="45720" rIns="91440" bIns="45720" rtlCol="0" anchor="t">
            <a:normAutofit/>
          </a:bodyPr>
          <a:lstStyle/>
          <a:p>
            <a:r>
              <a:rPr lang="en-US" dirty="0">
                <a:ea typeface="+mn-lt"/>
                <a:cs typeface="+mn-lt"/>
              </a:rPr>
              <a:t>Churns in January, February, and March are significantly more than those in other months</a:t>
            </a:r>
          </a:p>
          <a:p>
            <a:r>
              <a:rPr lang="en-US" dirty="0">
                <a:ea typeface="+mn-lt"/>
                <a:cs typeface="+mn-lt"/>
              </a:rPr>
              <a:t>Thus, we may also need to focus on these months</a:t>
            </a:r>
            <a:endParaRPr lang="en-US" dirty="0">
              <a:cs typeface="Calibri"/>
            </a:endParaRPr>
          </a:p>
        </p:txBody>
      </p:sp>
      <p:pic>
        <p:nvPicPr>
          <p:cNvPr id="4" name="Picture 4">
            <a:extLst>
              <a:ext uri="{FF2B5EF4-FFF2-40B4-BE49-F238E27FC236}">
                <a16:creationId xmlns:a16="http://schemas.microsoft.com/office/drawing/2014/main" id="{4B7549DE-8671-A3BB-DD7C-0F81F94505C7}"/>
              </a:ext>
            </a:extLst>
          </p:cNvPr>
          <p:cNvPicPr>
            <a:picLocks noChangeAspect="1"/>
          </p:cNvPicPr>
          <p:nvPr/>
        </p:nvPicPr>
        <p:blipFill>
          <a:blip r:embed="rId2"/>
          <a:stretch>
            <a:fillRect/>
          </a:stretch>
        </p:blipFill>
        <p:spPr>
          <a:xfrm>
            <a:off x="4008773" y="1693099"/>
            <a:ext cx="8232559" cy="4106411"/>
          </a:xfrm>
          <a:prstGeom prst="rect">
            <a:avLst/>
          </a:prstGeom>
        </p:spPr>
      </p:pic>
    </p:spTree>
    <p:extLst>
      <p:ext uri="{BB962C8B-B14F-4D97-AF65-F5344CB8AC3E}">
        <p14:creationId xmlns:p14="http://schemas.microsoft.com/office/powerpoint/2010/main" val="65239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3A76B-3802-A25E-7AE8-5B50F3714073}"/>
              </a:ext>
            </a:extLst>
          </p:cNvPr>
          <p:cNvSpPr>
            <a:spLocks noGrp="1"/>
          </p:cNvSpPr>
          <p:nvPr>
            <p:ph type="title"/>
          </p:nvPr>
        </p:nvSpPr>
        <p:spPr/>
        <p:txBody>
          <a:bodyPr/>
          <a:lstStyle/>
          <a:p>
            <a:r>
              <a:rPr lang="en-US" dirty="0">
                <a:cs typeface="Calibri Light"/>
              </a:rPr>
              <a:t>Summary</a:t>
            </a:r>
            <a:endParaRPr lang="en-US" dirty="0"/>
          </a:p>
        </p:txBody>
      </p:sp>
      <p:sp>
        <p:nvSpPr>
          <p:cNvPr id="3" name="Content Placeholder 2">
            <a:extLst>
              <a:ext uri="{FF2B5EF4-FFF2-40B4-BE49-F238E27FC236}">
                <a16:creationId xmlns:a16="http://schemas.microsoft.com/office/drawing/2014/main" id="{33244C0D-2983-71B9-FF2D-014C9F3C97AD}"/>
              </a:ext>
            </a:extLst>
          </p:cNvPr>
          <p:cNvSpPr>
            <a:spLocks noGrp="1"/>
          </p:cNvSpPr>
          <p:nvPr>
            <p:ph idx="1"/>
          </p:nvPr>
        </p:nvSpPr>
        <p:spPr/>
        <p:txBody>
          <a:bodyPr vert="horz" lIns="91440" tIns="45720" rIns="91440" bIns="45720" rtlCol="0" anchor="t">
            <a:normAutofit fontScale="92500"/>
          </a:bodyPr>
          <a:lstStyle/>
          <a:p>
            <a:r>
              <a:rPr lang="en-US" dirty="0">
                <a:cs typeface="Calibri"/>
              </a:rPr>
              <a:t>The problem of donor churns is big, and it is increasingly worser over time</a:t>
            </a:r>
          </a:p>
          <a:p>
            <a:r>
              <a:rPr lang="en-US" dirty="0">
                <a:cs typeface="Calibri"/>
              </a:rPr>
              <a:t>To solve the problem, we may need (i.e., based on the data I have)</a:t>
            </a:r>
          </a:p>
          <a:p>
            <a:pPr lvl="1"/>
            <a:r>
              <a:rPr lang="en-US" dirty="0">
                <a:ea typeface="+mn-lt"/>
                <a:cs typeface="+mn-lt"/>
              </a:rPr>
              <a:t>Follow up the cases of Downgrade to avoid unnecessary churns</a:t>
            </a:r>
            <a:endParaRPr lang="en-US" dirty="0">
              <a:cs typeface="Calibri"/>
            </a:endParaRPr>
          </a:p>
          <a:p>
            <a:pPr lvl="1"/>
            <a:r>
              <a:rPr lang="en-US" dirty="0">
                <a:ea typeface="+mn-lt"/>
                <a:cs typeface="+mn-lt"/>
              </a:rPr>
              <a:t>Follow up with donors who have their donations over continuous 30 months</a:t>
            </a:r>
          </a:p>
          <a:p>
            <a:pPr lvl="1"/>
            <a:r>
              <a:rPr lang="en-US" dirty="0">
                <a:ea typeface="+mn-lt"/>
                <a:cs typeface="+mn-lt"/>
              </a:rPr>
              <a:t>Focus on  January, February, and March</a:t>
            </a:r>
            <a:endParaRPr lang="en-US" dirty="0">
              <a:cs typeface="Calibri"/>
            </a:endParaRPr>
          </a:p>
          <a:p>
            <a:r>
              <a:rPr lang="en-US" dirty="0">
                <a:cs typeface="Calibri"/>
              </a:rPr>
              <a:t>If I have more data about donors, I can</a:t>
            </a:r>
          </a:p>
          <a:p>
            <a:pPr lvl="1"/>
            <a:r>
              <a:rPr lang="en-US" dirty="0">
                <a:cs typeface="Calibri"/>
              </a:rPr>
              <a:t>Use machine learning methods to identify what variables which have effects on the churns</a:t>
            </a:r>
          </a:p>
          <a:p>
            <a:pPr lvl="1"/>
            <a:r>
              <a:rPr lang="en-US" dirty="0">
                <a:cs typeface="Calibri"/>
              </a:rPr>
              <a:t>Build networks (e.g. donor networks based on social networks) to identify critical donors, which might not only help to reduce churns, but also help to increase the number of new donors</a:t>
            </a:r>
          </a:p>
          <a:p>
            <a:pPr lvl="1"/>
            <a:endParaRPr lang="en-US" dirty="0">
              <a:cs typeface="Calibri"/>
            </a:endParaRPr>
          </a:p>
          <a:p>
            <a:endParaRPr lang="en-US" dirty="0">
              <a:cs typeface="Calibri"/>
            </a:endParaRPr>
          </a:p>
        </p:txBody>
      </p:sp>
    </p:spTree>
    <p:extLst>
      <p:ext uri="{BB962C8B-B14F-4D97-AF65-F5344CB8AC3E}">
        <p14:creationId xmlns:p14="http://schemas.microsoft.com/office/powerpoint/2010/main" val="266010957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Charity Data Analysis</vt:lpstr>
      <vt:lpstr>The problem of donor churn</vt:lpstr>
      <vt:lpstr>The progress of churns over time</vt:lpstr>
      <vt:lpstr>Downgrade and churns</vt:lpstr>
      <vt:lpstr>The duration for recurring donations</vt:lpstr>
      <vt:lpstr>The churns over months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164</cp:revision>
  <dcterms:created xsi:type="dcterms:W3CDTF">2022-06-12T12:27:26Z</dcterms:created>
  <dcterms:modified xsi:type="dcterms:W3CDTF">2022-06-12T14:20:02Z</dcterms:modified>
</cp:coreProperties>
</file>